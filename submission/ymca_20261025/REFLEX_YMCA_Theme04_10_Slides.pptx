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5f688c45264778" /><Relationship Type="http://schemas.openxmlformats.org/officeDocument/2006/relationships/extended-properties" Target="/docProps/app.xml" Id="R4544006e6bcc4beb" /><Relationship Type="http://schemas.openxmlformats.org/officeDocument/2006/relationships/officeDocument" Target="/ppt/presentation.xml" Id="R78cb2b066ba8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234c90bcbe4722"/>
  </p:sldMasterIdLst>
  <p:notesMasterIdLst>
    <p:notesMasterId xmlns:r="http://schemas.openxmlformats.org/officeDocument/2006/relationships" r:id="R6e4a757f44f14e8c"/>
  </p:notesMasterIdLst>
  <p:sldIdLst>
    <p:sldId xmlns:r="http://schemas.openxmlformats.org/officeDocument/2006/relationships" id="256" r:id="R053cf0f363404ce1"/>
    <p:sldId xmlns:r="http://schemas.openxmlformats.org/officeDocument/2006/relationships" id="257" r:id="R46e50a65626240ef"/>
    <p:sldId xmlns:r="http://schemas.openxmlformats.org/officeDocument/2006/relationships" id="258" r:id="R388fc7c7d65248bd"/>
    <p:sldId xmlns:r="http://schemas.openxmlformats.org/officeDocument/2006/relationships" id="259" r:id="R9572ad35b15e48d2"/>
    <p:sldId xmlns:r="http://schemas.openxmlformats.org/officeDocument/2006/relationships" id="260" r:id="R3905312e912d47cc"/>
    <p:sldId xmlns:r="http://schemas.openxmlformats.org/officeDocument/2006/relationships" id="261" r:id="Rcfc09f5b3f704382"/>
    <p:sldId xmlns:r="http://schemas.openxmlformats.org/officeDocument/2006/relationships" id="262" r:id="Rfb78716266af4f8d"/>
    <p:sldId xmlns:r="http://schemas.openxmlformats.org/officeDocument/2006/relationships" id="263" r:id="R2b236a13ce584e4c"/>
    <p:sldId xmlns:r="http://schemas.openxmlformats.org/officeDocument/2006/relationships" id="264" r:id="Re03f548f6dea41ee"/>
    <p:sldId xmlns:r="http://schemas.openxmlformats.org/officeDocument/2006/relationships" id="265" r:id="R0dd8568d9c1940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9a3c57829847ee" /><Relationship Type="http://schemas.openxmlformats.org/officeDocument/2006/relationships/slideMaster" Target="/ppt/slideMasters/slideMaster1.xml" Id="R9f234c90bcbe4722" /><Relationship Type="http://schemas.openxmlformats.org/officeDocument/2006/relationships/notesMaster" Target="/ppt/notesMasters/notesMaster1.xml" Id="R6e4a757f44f14e8c" /><Relationship Type="http://schemas.openxmlformats.org/officeDocument/2006/relationships/presProps" Target="/ppt/presProps.xml" Id="R1ad68caeca184e03" /><Relationship Type="http://schemas.openxmlformats.org/officeDocument/2006/relationships/tableStyles" Target="/ppt/tableStyles.xml" Id="Rc548cc625d004cf5" /><Relationship Type="http://schemas.openxmlformats.org/officeDocument/2006/relationships/slide" Target="/ppt/slides/slide1.xml" Id="R053cf0f363404ce1" /><Relationship Type="http://schemas.openxmlformats.org/officeDocument/2006/relationships/slide" Target="/ppt/slides/slide2.xml" Id="R46e50a65626240ef" /><Relationship Type="http://schemas.openxmlformats.org/officeDocument/2006/relationships/slide" Target="/ppt/slides/slide3.xml" Id="R388fc7c7d65248bd" /><Relationship Type="http://schemas.openxmlformats.org/officeDocument/2006/relationships/slide" Target="/ppt/slides/slide4.xml" Id="R9572ad35b15e48d2" /><Relationship Type="http://schemas.openxmlformats.org/officeDocument/2006/relationships/slide" Target="/ppt/slides/slide5.xml" Id="R3905312e912d47cc" /><Relationship Type="http://schemas.openxmlformats.org/officeDocument/2006/relationships/slide" Target="/ppt/slides/slide6.xml" Id="Rcfc09f5b3f704382" /><Relationship Type="http://schemas.openxmlformats.org/officeDocument/2006/relationships/slide" Target="/ppt/slides/slide7.xml" Id="Rfb78716266af4f8d" /><Relationship Type="http://schemas.openxmlformats.org/officeDocument/2006/relationships/slide" Target="/ppt/slides/slide8.xml" Id="R2b236a13ce584e4c" /><Relationship Type="http://schemas.openxmlformats.org/officeDocument/2006/relationships/slide" Target="/ppt/slides/slide9.xml" Id="Re03f548f6dea41ee" /><Relationship Type="http://schemas.openxmlformats.org/officeDocument/2006/relationships/slide" Target="/ppt/slides/slide10.xml" Id="R0dd8568d9c1940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3b98325cf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255448ac334fda" /><Relationship Type="http://schemas.openxmlformats.org/officeDocument/2006/relationships/notesMaster" Target="/ppt/notesMasters/notesMaster1.xml" Id="Rc694277f149943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76e3a7c9344d2" /><Relationship Type="http://schemas.openxmlformats.org/officeDocument/2006/relationships/notesMaster" Target="/ppt/notesMasters/notesMaster1.xml" Id="Rc3c10888ccae4f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ae0e213ecd45ae" /><Relationship Type="http://schemas.openxmlformats.org/officeDocument/2006/relationships/notesMaster" Target="/ppt/notesMasters/notesMaster1.xml" Id="R7f692ba7e4ca4d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031e4371654291" /><Relationship Type="http://schemas.openxmlformats.org/officeDocument/2006/relationships/notesMaster" Target="/ppt/notesMasters/notesMaster1.xml" Id="R3d5059b95b354f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696ec775cc4314" /><Relationship Type="http://schemas.openxmlformats.org/officeDocument/2006/relationships/notesMaster" Target="/ppt/notesMasters/notesMaster1.xml" Id="R72aa4fdc664143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41674790eb48f7" /><Relationship Type="http://schemas.openxmlformats.org/officeDocument/2006/relationships/notesMaster" Target="/ppt/notesMasters/notesMaster1.xml" Id="R724f0eef1d13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057ecf18f47ee" /><Relationship Type="http://schemas.openxmlformats.org/officeDocument/2006/relationships/notesMaster" Target="/ppt/notesMasters/notesMaster1.xml" Id="R5d3574ec8c61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f8975148b4cb4" /><Relationship Type="http://schemas.openxmlformats.org/officeDocument/2006/relationships/notesMaster" Target="/ppt/notesMasters/notesMaster1.xml" Id="R4c7e8b592fb4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70b44b17441ff" /><Relationship Type="http://schemas.openxmlformats.org/officeDocument/2006/relationships/notesMaster" Target="/ppt/notesMasters/notesMaster1.xml" Id="R9a2b604444564a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c34f3751a4a53" /><Relationship Type="http://schemas.openxmlformats.org/officeDocument/2006/relationships/notesMaster" Target="/ppt/notesMasters/notesMaster1.xml" Id="Rbd6c6ce1e7ef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Official YMCA Theme04 text verified in the five-page PDF, page3. No accident-cost, incidence, fatigue-state or market-size statistics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Illustrative held-out generated clip011, agent policy,1500ms saved overlay. This is an actual computed frame output from a synthetic software case, not a photo or a physical trial.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Versioned demo_panel_v1 recipe requires two short spacers, cover then two fasteners. Recipe engine tests actual observed evidence. Stable support uses3frames separated by&gt;=150ms; unknown history leads to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Editable architecture table. Implemented source snapshots: sources/implementation/api.py,engine.py,recipe.py,vision.py. Existing anomaly implementation remains separate. API namespace/api/safety; backend capability tokens protect sessions; lifecycle/cancellation/evidence routes. No new cloud execution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The implemented uncertainty policy selects extra replay frames from actual slot/quality observations, maximum2. The completed synthetic run uses its two early100/200ms frames, which does not improve accuracy. A second physical view exists only after a supplied capture; the request is not an executed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Both images are actual saved inference overlays from synthetic held-out clips. Clip010 ordered normal finalPASS. Clip013 cover-before-spacers finalHOLD_FOR_REVIEW, expectedREJECT_RECOMMENDATION. Specific wrong-order event missed; do not count generic review as detection. UI/CUA verification is not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Prior frozen anomaly study:860cases across5VisA categories and88method/population rows. v2 candidate remainsHOLD_CANDIDATE_LOCAL. New-category finalmacroAUROC.852044to.840978, normalfalsealerts9to14. PriorAWSrealimageprofile exists but does not validate SafetyStation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Source summary:results.json. SYNTHETIC_SOFTWARE_TEST,18held-out clips and54repeated-policy predictions. Exactstatuses15/18 each, matchingerrorfindings5/7 each, two falseHOLDs among4normalclips. 0falsePASS in this small generator grammar does not prove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 YMCA extension review, 25 October 2026. Numeric authority: sources/results.json, results.csv, run_manifest.json and VERIFICATION.json. All18held-out videos are SYNTHETIC SOFTWARE TEST;54rows repeat three policies, not54independent clips. No physically recorded procedural benchmark, live capture-to-alert timing, extension AWS execution, UI/CUA verification, fatigue inference, machine actuation or safety certification. All three policies tie; no agent accuracy gain. Official sources: https://api.unstop.com/hackathons/cypher-digiweek-jc-bose-university-of-science-and-technology-ymca-faridabad-1771873 and https://opencv26.devpost.com/rules. Sources/CONTEST_VERIFICATION.md records verification. User supplied logo artwork is separate from MIT source; no independent image license is asserted.</a:t>
            </a:r>
          </a:p>
          <a:p xmlns:a="http://schemas.openxmlformats.org/drawingml/2006/main">
            <a:r>
              <a:t>Team names, institution and contact intentionallyblankforhumancompletion. OfficialYMCA requires3-4sameinstitutionmembers. Timeline/deadline confirmedinCONTEST_VERIFICATION. No submissionreceipt/videoandno12physicallyrecordedclipsclaimed.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0422697ef4a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426beba554f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dfe4038c445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8a677df9845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f0aab211643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23485807f4a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D07F0-9CCD-4B1D-9798-2615D2B8E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6D6F20-6BEB-4830-9A1B-24500FA94E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6CF739-ADFD-4A47-B0E6-3EEC288C3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867529-B6C3-472B-A3DD-0E8B7637E7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E41758-313F-4CB3-9350-78BEBB500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CB9811-13CF-4811-BCA5-F94C9B42B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5AB52F-568C-4793-8B36-48A7F7CF8E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EF7B9C-20C8-4034-A7E4-A36ECB452E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C4FF31-CC87-4418-9E7C-BB71C0796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E1AC15-DDF8-43EE-B457-79C868777A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09a850f6f4a52" /><Relationship Type="http://schemas.openxmlformats.org/officeDocument/2006/relationships/slideLayout" Target="/ppt/slideLayouts/slideLayout1.xml" Id="R4369840b514d4293" /><Relationship Type="http://schemas.openxmlformats.org/officeDocument/2006/relationships/slideLayout" Target="/ppt/slideLayouts/slideLayout2.xml" Id="R335aedf941174ada" /><Relationship Type="http://schemas.openxmlformats.org/officeDocument/2006/relationships/slideLayout" Target="/ppt/slideLayouts/slideLayout3.xml" Id="R4cd60cba209b4626" /><Relationship Type="http://schemas.openxmlformats.org/officeDocument/2006/relationships/slideLayout" Target="/ppt/slideLayouts/slideLayout4.xml" Id="R736c27207c834ed0" /><Relationship Type="http://schemas.openxmlformats.org/officeDocument/2006/relationships/slideLayout" Target="/ppt/slideLayouts/slideLayout5.xml" Id="R6d914f99308b4f66" /><Relationship Type="http://schemas.openxmlformats.org/officeDocument/2006/relationships/slideLayout" Target="/ppt/slideLayouts/slideLayout6.xml" Id="Rfb972e3144c1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69840b514d4293"/>
    <p:sldLayoutId xmlns:r="http://schemas.openxmlformats.org/officeDocument/2006/relationships" id="2147483650" r:id="R335aedf941174ada"/>
    <p:sldLayoutId xmlns:r="http://schemas.openxmlformats.org/officeDocument/2006/relationships" id="2147483651" r:id="R4cd60cba209b4626"/>
    <p:sldLayoutId xmlns:r="http://schemas.openxmlformats.org/officeDocument/2006/relationships" id="2147483652" r:id="R736c27207c834ed0"/>
    <p:sldLayoutId xmlns:r="http://schemas.openxmlformats.org/officeDocument/2006/relationships" id="2147483653" r:id="R6d914f99308b4f66"/>
    <p:sldLayoutId xmlns:r="http://schemas.openxmlformats.org/officeDocument/2006/relationships" id="2147483654" r:id="Rfb972e3144c1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476b320a648c1" /><Relationship Type="http://schemas.openxmlformats.org/officeDocument/2006/relationships/image" Target="/ppt/media/image.bin" Id="R5b98cd5e41ac491a" /><Relationship Type="http://schemas.openxmlformats.org/officeDocument/2006/relationships/notesSlide" Target="/ppt/notesSlides/notesSlide1.xml" Id="Rdf10500d321541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b558d7b1b4c35" /><Relationship Type="http://schemas.openxmlformats.org/officeDocument/2006/relationships/notesSlide" Target="/ppt/notesSlides/notesSlide2.xml" Id="R148caf665c8d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78cb93bb54ea2" /><Relationship Type="http://schemas.openxmlformats.org/officeDocument/2006/relationships/image" Target="/ppt/media/image.jpeg" Id="R54d0c8d87b03446e" /><Relationship Type="http://schemas.openxmlformats.org/officeDocument/2006/relationships/notesSlide" Target="/ppt/notesSlides/notesSlide3.xml" Id="Rdef8af514c5347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5942850724e41" /><Relationship Type="http://schemas.openxmlformats.org/officeDocument/2006/relationships/notesSlide" Target="/ppt/notesSlides/notesSlide4.xml" Id="R60d3f8d6920342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3b24d9a9e40a6" /><Relationship Type="http://schemas.openxmlformats.org/officeDocument/2006/relationships/notesSlide" Target="/ppt/notesSlides/notesSlide5.xml" Id="R969d46a90f10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bb852c66d4b54" /><Relationship Type="http://schemas.openxmlformats.org/officeDocument/2006/relationships/notesSlide" Target="/ppt/notesSlides/notesSlide6.xml" Id="Ra0ab94103543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e7ea5627a4291" /><Relationship Type="http://schemas.openxmlformats.org/officeDocument/2006/relationships/image" Target="/ppt/media/image2.jpeg" Id="Reb860206a028416a" /><Relationship Type="http://schemas.openxmlformats.org/officeDocument/2006/relationships/image" Target="/ppt/media/image3.jpeg" Id="Ra8854acc91774726" /><Relationship Type="http://schemas.openxmlformats.org/officeDocument/2006/relationships/notesSlide" Target="/ppt/notesSlides/notesSlide7.xml" Id="R9fc3628067cb4c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be23ce310416b" /><Relationship Type="http://schemas.openxmlformats.org/officeDocument/2006/relationships/notesSlide" Target="/ppt/notesSlides/notesSlide8.xml" Id="Rbfcf7dc44c01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fe63e4d8a4dd6" /><Relationship Type="http://schemas.openxmlformats.org/officeDocument/2006/relationships/chart" Target="/ppt/slides/charts/chart1.xml" Id="Rfb8ffe77cf4f4869" /><Relationship Type="http://schemas.openxmlformats.org/officeDocument/2006/relationships/notesSlide" Target="/ppt/notesSlides/notesSlide9.xml" Id="Rb3a64e071734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8293254bd4948" /><Relationship Type="http://schemas.openxmlformats.org/officeDocument/2006/relationships/notesSlide" Target="/ppt/notesSlides/notesSlide10.xml" Id="R3fd22cc109674f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212C"/>
                </a:solidFill>
                <a:latin typeface="Arial"/>
                <a:ea typeface="Arial"/>
                <a:cs typeface="Arial"/>
              </a:rPr>
              <a:t>Exact expected final status, out of 18 clips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212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Matching final status</c:v>
          </c:tx>
          <c:spPr>
            <a:solidFill xmlns:a="http://schemas.openxmlformats.org/drawingml/2006/main">
              <a:srgbClr val="006DB7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Base</c:v>
                </c:pt>
                <c:pt idx="1">
                  <c:v>Random</c:v>
                </c:pt>
                <c:pt idx="2">
                  <c:v>Uncertainty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21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FE5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7E5AA-204B-4277-AAE7-2D978842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REFLEX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CE807-B28D-48BF-BECF-D781828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83562-1906-452A-A0CC-83D60031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936AA-AEB1-4336-837D-9CFC457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376D3-5064-4291-931F-A384EB92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Vision-assisted bench assembly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26813-89A4-4953-8533-4FD49602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35200"/>
                </a:solidFill>
                <a:latin typeface="Arial"/>
                <a:ea typeface="Arial"/>
                <a:cs typeface="Arial"/>
              </a:rPr>
              <a:t>Intelligent Mistake Prevention &amp; Systemic 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03FE-1060-4D0C-AD97-02EE698E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B8A29-5393-474F-BDEC-24A1D04C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4F7DF-E079-423A-B8FE-6DB8E1A6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Institution / affiliation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41BB1-6662-426B-80E7-A7BA61A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34C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4C79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28F95-2D6A-4439-9836-52D0B0CC47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8cd5e41ac491a"/>
          <a:stretch xmlns:a="http://schemas.openxmlformats.org/drawingml/2006/main"/>
        </p:blipFill>
        <p:spPr>
          <a:xfrm xmlns:a="http://schemas.openxmlformats.org/drawingml/2006/main">
            <a:off x="9382125" y="3370659"/>
            <a:ext cx="1905000" cy="186928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385D1-B040-4B30-93E7-60C48F33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YMCA CYPHER-DigiWeek 2026. Advisory teaching-fixture prototype.</a:t>
            </a:r>
          </a:p>
        </p:txBody>
      </p:sp>
    </p:spTree>
    <p:extLst>
      <p:ext uri="{BB962C8B-B14F-4D97-AF65-F5344CB8AC3E}">
        <p14:creationId xmlns:p14="http://schemas.microsoft.com/office/powerpoint/2010/main" val="895287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A445F-D791-4654-BCC2-ECAA5D62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45333-077F-4207-A702-F1B90EE7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4D8F7-09F1-4AFB-A470-7BBCD24E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A2A9E-4B99-41F6-9A55-24DD071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3CF6B-CFB0-4D58-915A-5DF840B3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A visible assembly mistake can survive the 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39788-B09F-4B18-8425-2A4C1471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1277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12C"/>
                </a:solidFill>
                <a:latin typeface="Arial"/>
                <a:ea typeface="Arial"/>
                <a:cs typeface="Arial"/>
              </a:rPr>
              <a:t>A missing spacer, wrong component or skipped prerequisite needs evidence before an operator continues.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02FC0-80AE-4D3C-A41F-E0832CE6A7AF}"/>
              </a:ext>
            </a:extLst>
          </p:cNvPr>
          <p:cNvGraphicFramePr/>
          <p:nvPr/>
        </p:nvGraphicFramePr>
        <p:xfrm>
          <a:off xmlns:a="http://schemas.openxmlformats.org/drawingml/2006/main" x="457200" y="3476625"/>
          <a:ext xmlns:a="http://schemas.openxmlformats.org/drawingml/2006/main" cx="112776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77100"/>
              </a:tblGrid>
              <a:tr h="547688">
                <a:tc>
                  <a:txBody>
                    <a:bodyPr lIns="85725" tIns="38100" rIns="66675" bIns="285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Visible condition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Inspection need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547688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Wrong part in a required slot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Compare the observed class and geometry with a recipe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Later component appears too early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Check observed prerequisites and uncertain history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547688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Occluded or low-quality capture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Hold the result and request usable evidence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F92BA-B618-4B24-A154-B724E22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Scope: a nonhazardous tabletop fixture under human control. No worker identity or fatigue scoring.</a:t>
            </a:r>
          </a:p>
        </p:txBody>
      </p:sp>
    </p:spTree>
    <p:extLst>
      <p:ext uri="{BB962C8B-B14F-4D97-AF65-F5344CB8AC3E}">
        <p14:creationId xmlns:p14="http://schemas.microsoft.com/office/powerpoint/2010/main" val="1895638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2EFA4-AE40-4E22-AA8D-509941A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Specific case: the wrong spacer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61DC-2CA6-4A62-8E2F-7F6D8323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F3E2B-ABA5-448E-8B3F-6F49808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CA79D-FD54-421F-B6D7-409C91E1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998CD-D372-4789-A570-ADC668279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0c8d87b03446e"/>
          <a:stretch xmlns:a="http://schemas.openxmlformats.org/drawingml/2006/main"/>
        </p:blipFill>
        <p:spPr>
          <a:xfrm xmlns:a="http://schemas.openxmlformats.org/drawingml/2006/main">
            <a:off x="928688" y="1362075"/>
            <a:ext cx="5486400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D1E90-D822-4902-B2E1-72E96844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DB7"/>
                </a:solidFill>
                <a:latin typeface="Arial"/>
                <a:ea typeface="Arial"/>
                <a:cs typeface="Arial"/>
              </a:rPr>
              <a:t>Recipe expectation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53A4C-1FA2-47AD-A22E-2DF44A58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438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12C"/>
                </a:solidFill>
                <a:latin typeface="Arial"/>
                <a:ea typeface="Arial"/>
                <a:cs typeface="Arial"/>
              </a:rPr>
              <a:t>Two short blue spacers before the 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446CC-96D3-4596-9AB3-36ED89F9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Supported 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5D3F2-6184-4786-9319-186E053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76675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C"/>
                </a:solidFill>
                <a:latin typeface="Arial"/>
                <a:ea typeface="Arial"/>
                <a:cs typeface="Arial"/>
              </a:rPr>
              <a:t>WRONG_COMPONENT_CLASS</a:t>
            </a:r>
          </a:p>
          <a:p xmlns:a="http://schemas.openxmlformats.org/drawingml/2006/main">
            <a:pPr>
              <a:defRPr sz="18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12C"/>
                </a:solidFill>
                <a:latin typeface="Arial"/>
                <a:ea typeface="Arial"/>
                <a:cs typeface="Arial"/>
              </a:rPr>
              <a:t>First matching warning: 1,500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B46BD-8389-46A2-8B29-1838FB0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SYNTHETIC SOFTWARE TEST. Warning is 700 ms after generator onset and 500 ms before its declared boundary.</a:t>
            </a:r>
          </a:p>
        </p:txBody>
      </p:sp>
    </p:spTree>
    <p:extLst>
      <p:ext uri="{BB962C8B-B14F-4D97-AF65-F5344CB8AC3E}">
        <p14:creationId xmlns:p14="http://schemas.microsoft.com/office/powerpoint/2010/main" val="232643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A4ACE-C5D5-489E-A706-81384D28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705EB-6491-4B8E-9620-26900E1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0ED29-5257-490D-A605-3595E83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A676D-98BF-4718-BF2E-177B8AA2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67376-7B38-4C82-9F26-8325BA4D51C0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762500"/>
                <a:gridCol w="3467100"/>
              </a:tblGrid>
              <a:tr h="738188">
                <a:tc>
                  <a:txBody>
                    <a:bodyPr lIns="85725" tIns="38100" rIns="66675" bIns="285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Recipe 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Observable evidence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38188"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1. Mount spacers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Both required spacer slots match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Confirm stable evidence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2. Install cover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Cover follows observed prerequisites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Hold uncertain history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8188"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3. Add fasteners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Both fasteners present at checkpoint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Report final recommendation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626B4-071C-4447-8AF7-B958115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8779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EBB1-B224-49D7-A006-935DAD6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5200"/>
                </a:solidFill>
                <a:latin typeface="Arial"/>
                <a:ea typeface="Arial"/>
                <a:cs typeface="Arial"/>
              </a:rPr>
              <a:t>HOLD FOR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B7423-55E3-4EBF-8895-0D9FECA9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14875"/>
            <a:ext cx="421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REJECT 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6848C-CDF6-4591-A930-BE65AB1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C"/>
                </a:solidFill>
                <a:latin typeface="Arial"/>
                <a:ea typeface="Arial"/>
                <a:cs typeface="Arial"/>
              </a:rPr>
              <a:t>Recipe evidence 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04850-F9D0-496D-B8CA-2CCDD58C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C"/>
                </a:solidFill>
                <a:latin typeface="Arial"/>
                <a:ea typeface="Arial"/>
                <a:cs typeface="Arial"/>
              </a:rPr>
              <a:t>Evidence remains incomplete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84E9-975C-45E2-B194-902C7E2B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4219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12C"/>
                </a:solidFill>
                <a:latin typeface="Arial"/>
                <a:ea typeface="Arial"/>
                <a:cs typeface="Arial"/>
              </a:rPr>
              <a:t>Visible rule violation, human confirms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CDA39-2B82-4B57-9283-0644B50E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A calibrated color/shape demonstration supports this fixture. Arbitrary industrial components remain outside scope.</a:t>
            </a:r>
          </a:p>
        </p:txBody>
      </p:sp>
    </p:spTree>
    <p:extLst>
      <p:ext uri="{BB962C8B-B14F-4D97-AF65-F5344CB8AC3E}">
        <p14:creationId xmlns:p14="http://schemas.microsoft.com/office/powerpoint/2010/main" val="1952718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A1A2E-19C7-4291-AD91-598321D8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C023C-C799-4895-B32E-54F35324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BA6F8-B75A-4087-BC6F-D557975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3577C-7208-41CF-8E35-61534AF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E6ABC-33A1-4605-A600-3C70D0FAA748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11277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762500"/>
                <a:gridCol w="4133850"/>
              </a:tblGrid>
              <a:tr h="730250">
                <a:tc>
                  <a:txBody>
                    <a:bodyPr lIns="85725" tIns="38100" rIns="66675" bIns="285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evidence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30250"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Capture / replay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Bounded upload or supplied camera frame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Source hash, source time, mode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OpenCV 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Perspective transform, color/shape and quality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Function names, slot coordinates, flags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Recipe engine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Stable slot state and prerequisite checks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Versioned recipe, supporting frame IDs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Inspection 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Next-frame budget or request new input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Action reason, actual output and cost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Operator review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PASS / HOLD / REJECT recommendation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650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Append-only review and JSON/HTML report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B0F34-3AE5-43D9-BADA-7EF5E5D4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Existing anomaly inspection and prior AWS proof remain distinct. Safety Station cloud video execution: NOT RUN.</a:t>
            </a:r>
          </a:p>
        </p:txBody>
      </p:sp>
    </p:spTree>
    <p:extLst>
      <p:ext uri="{BB962C8B-B14F-4D97-AF65-F5344CB8AC3E}">
        <p14:creationId xmlns:p14="http://schemas.microsoft.com/office/powerpoint/2010/main" val="1554600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06BC8-B7B3-4CE4-A315-4C1B90FF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Differentiation: an inspectable second 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6A9BC-17F4-4A43-A779-B314295D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DF528-D37D-4909-AE6D-33F03A6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E86F2-960E-42AD-BB1F-23016E3E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0F235-9CCE-4CD2-8CE9-F627B930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Each extra action has a trace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104B-0475-4DDB-9A3A-FBAECEDD5AC9}"/>
              </a:ext>
            </a:extLst>
          </p:cNvPr>
          <p:cNvGraphicFramePr/>
          <p:nvPr/>
        </p:nvGraphicFramePr>
        <p:xfrm>
          <a:off xmlns:a="http://schemas.openxmlformats.org/drawingml/2006/main" x="457200" y="2381250"/>
          <a:ext xmlns:a="http://schemas.openxmlformats.org/drawingml/2006/main" cx="112776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77100"/>
              </a:tblGrid>
              <a:tr h="642938">
                <a:tc>
                  <a:txBody>
                    <a:bodyPr lIns="85725" tIns="38100" rIns="66675" bIns="285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Information contribution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642938"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Observe next replay frame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Additional temporal pixels from the supplied video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Request an alternate view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Wait for a genuinely supplied capture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42938"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Ask an operator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8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Keep uncertainty and the original machine finding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4360C-D16E-4409-B416-78B5657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Observed weakness: the current policy spends its extra-frame budget during initialization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EB25B-A174-4F0B-8D8E-899BD5E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SYNTHETIC SOFTWARE TEST. No measured accuracy advantage over the base or seeded random policy.</a:t>
            </a:r>
          </a:p>
        </p:txBody>
      </p:sp>
    </p:spTree>
    <p:extLst>
      <p:ext uri="{BB962C8B-B14F-4D97-AF65-F5344CB8AC3E}">
        <p14:creationId xmlns:p14="http://schemas.microsoft.com/office/powerpoint/2010/main" val="603754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23E09-9798-4ED1-9C17-DCD753B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Working Prototype: successes and retained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8E596-776F-44D8-BD0F-69C40B0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0384B-FBFE-42CD-8411-BF9B5E0A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110FB-5163-4868-93F2-4FC053B4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26A2A-5EF9-4D83-A6FF-ABC4C6C00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60206a028416a"/>
          <a:stretch xmlns:a="http://schemas.openxmlformats.org/drawingml/2006/main"/>
        </p:blipFill>
        <p:spPr>
          <a:xfrm xmlns:a="http://schemas.openxmlformats.org/drawingml/2006/main">
            <a:off x="822325" y="1476375"/>
            <a:ext cx="4699000" cy="3524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9C432-752E-4AAD-98C7-4D28E0B66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54acc91774726"/>
          <a:stretch xmlns:a="http://schemas.openxmlformats.org/drawingml/2006/main"/>
        </p:blipFill>
        <p:spPr>
          <a:xfrm xmlns:a="http://schemas.openxmlformats.org/drawingml/2006/main">
            <a:off x="6670675" y="1476375"/>
            <a:ext cx="4699000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732A2-85C9-4639-BA6D-57678F1D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877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8779"/>
                </a:solidFill>
                <a:latin typeface="Arial"/>
                <a:ea typeface="Arial"/>
                <a:cs typeface="Arial"/>
              </a:rPr>
              <a:t>Ordered normal: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256DD-046D-4209-92C1-FB52EC89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0540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Wrong order: HOLD, specific error missed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E6585-58DC-4ED6-816B-DFFD26F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SYNTHETIC SOFTWARE TEST. Left frame: 5,700 ms. Right frame: 900 ms. Right final HOLD misses the specific order error.</a:t>
            </a:r>
          </a:p>
        </p:txBody>
      </p:sp>
    </p:spTree>
    <p:extLst>
      <p:ext uri="{BB962C8B-B14F-4D97-AF65-F5344CB8AC3E}">
        <p14:creationId xmlns:p14="http://schemas.microsoft.com/office/powerpoint/2010/main" val="870127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690CE-7752-4F65-B017-9BFB2BA5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Feasibility and evidence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CC894-7165-42BC-87A8-6C731496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BE07A-4983-4716-9BA6-8D1CEC4F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15F16-D89C-44F6-9F32-ED5420D0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34AF7-F59B-4606-9605-6CB21F592DA0}"/>
              </a:ext>
            </a:extLst>
          </p:cNvPr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12776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476750"/>
                <a:gridCol w="4038600"/>
              </a:tblGrid>
              <a:tr h="704850">
                <a:tc>
                  <a:txBody>
                    <a:bodyPr lIns="85725" tIns="38100" rIns="66675" bIns="285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available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limit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04850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Procedure software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18 generated clips, 54 policy rows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No physically recorded benchmark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Real anomaly evaluation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860 VisA population cases, 5 categories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Candidate remains local after regressions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04850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Existing AWS anomaly service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Verified OpenCV inference/log evidence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Safety Station video not run on AWS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Human workflow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Review/report routes implemented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85725" tIns="38100" rIns="66675" bIns="28575"/>
                    <a:lstStyle/>
                    <a:p>
                      <a:r>
                        <a:rPr sz="172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Real operator burden and prevention unmeasured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63852-5D82-4E40-B3C8-7890BE11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New-category anomaly ranking also regressed: AUROC 0.852 to 0.841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47B28-94AB-41C9-A50A-6F70B0D5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Separate datasets, methods and denominators. No factory readiness, certified safety or physical actuation claim.</a:t>
            </a:r>
          </a:p>
        </p:txBody>
      </p:sp>
    </p:spTree>
    <p:extLst>
      <p:ext uri="{BB962C8B-B14F-4D97-AF65-F5344CB8AC3E}">
        <p14:creationId xmlns:p14="http://schemas.microsoft.com/office/powerpoint/2010/main" val="1166481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6BA6E-EDD9-47C3-BD63-7A59447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Evaluation: all three policies tie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40F0E-EF8A-4085-9CDB-7F2556E2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7934-3EE1-4825-B102-3C76E85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CD45B-ED05-473B-8E69-A092B1E8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C8D9991-93A9-4588-A60E-933E2BD50DA6}"/>
              </a:ext>
            </a:extLst>
          </p:cNvPr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62865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8ffe77cf4f4869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6557F-2E6E-4960-B648-4A3CE05612B1}"/>
              </a:ext>
            </a:extLst>
          </p:cNvPr>
          <p:cNvGraphicFramePr/>
          <p:nvPr/>
        </p:nvGraphicFramePr>
        <p:xfrm>
          <a:off xmlns:a="http://schemas.openxmlformats.org/drawingml/2006/main" x="7191375" y="1609725"/>
          <a:ext xmlns:a="http://schemas.openxmlformats.org/drawingml/2006/main" cx="4543425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428750"/>
                <a:gridCol w="1352550"/>
              </a:tblGrid>
              <a:tr h="700088">
                <a:tc>
                  <a:txBody>
                    <a:bodyPr lIns="66675" tIns="38100" rIns="38100" bIns="285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frames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 ms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T w="6668">
                      <a:solidFill>
                        <a:srgbClr val="CBD3DB"/>
                      </a:solidFill>
                      <a:prstDash val="solid"/>
                    </a:lnT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234C79"/>
                    </a:solidFill>
                  </a:tcPr>
                </a:tc>
              </a:tr>
              <a:tr h="700088"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289.4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Random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259.9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Uncertainty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BD3DB"/>
                      </a:solidFill>
                      <a:prstDash val="solid"/>
                    </a:lnL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38100" bIns="28575"/>
                    <a:lstStyle/>
                    <a:p>
                      <a:r>
                        <a:rPr sz="1575" b="0">
                          <a:solidFill>
                            <a:srgbClr val="17212C"/>
                          </a:solidFill>
                          <a:latin typeface="Arial"/>
                          <a:ea typeface="Arial"/>
                          <a:cs typeface="Arial"/>
                        </a:rPr>
                        <a:t>249.9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BD3DB"/>
                      </a:solidFill>
                      <a:prstDash val="solid"/>
                    </a:lnR>
                    <a:lnB w="6668">
                      <a:solidFill>
                        <a:srgbClr val="CBD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9D321-8541-40E4-9E9F-686090D7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95825"/>
            <a:ext cx="4543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5/7 supported error findings</a:t>
            </a:r>
          </a:p>
          <a:p xmlns:a="http://schemas.openxmlformats.org/drawingml/2006/main">
            <a:pPr>
              <a:defRPr sz="1875" b="1">
                <a:solidFill>
                  <a:srgbClr val="B83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3B35"/>
                </a:solidFill>
                <a:latin typeface="Arial"/>
                <a:ea typeface="Arial"/>
                <a:cs typeface="Arial"/>
              </a:rPr>
              <a:t>2/4 normal clips falsely held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56804-0C80-45DF-A1A6-7E0143E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5200"/>
                </a:solidFill>
                <a:latin typeface="Arial"/>
                <a:ea typeface="Arial"/>
                <a:cs typeface="Arial"/>
              </a:rPr>
              <a:t>No observed agent accuracy gain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E9464-9632-4DAA-9585-F4B517DA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SYNTHETIC SOFTWARE TEST, N=18. Offline processing includes evidence writes on a shared host. No live timing claim.</a:t>
            </a:r>
          </a:p>
        </p:txBody>
      </p:sp>
    </p:spTree>
    <p:extLst>
      <p:ext uri="{BB962C8B-B14F-4D97-AF65-F5344CB8AC3E}">
        <p14:creationId xmlns:p14="http://schemas.microsoft.com/office/powerpoint/2010/main" val="1886710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59168-AE67-431B-A6C8-4B8BBCF8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7212C"/>
                </a:solidFill>
                <a:latin typeface="Times New Roman"/>
                <a:ea typeface="Times New Roman"/>
                <a:cs typeface="Times New Roman"/>
              </a:rPr>
              <a:t>Team, roadmap and support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B63E5-343F-4F81-81EE-3FAC8D2A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B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E9D0D-EC07-4E92-BD70-F035B90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REFLEX Safety   YMCA Theme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33F29-53BB-4E67-8D88-0F54AFAE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46AA-CF22-42D9-8A37-7ABDD360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DB7"/>
                </a:solidFill>
                <a:latin typeface="Arial"/>
                <a:ea typeface="Arial"/>
                <a:cs typeface="Arial"/>
              </a:rPr>
              <a:t>Team and institution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DF63C-48CC-4D88-A1B9-BFE0CD9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97D7F-4DA2-46C6-B6A2-71963E4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Members /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D9ED5-394D-442D-94F0-2DEBCB8D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24393-152F-45E7-9BFD-F58C44F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BD49E-9CD6-4DCB-9C19-76859F1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54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DB7"/>
                </a:solidFill>
                <a:latin typeface="Arial"/>
                <a:ea typeface="Arial"/>
                <a:cs typeface="Arial"/>
              </a:rPr>
              <a:t>Next evidence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C3375-3857-47FC-A18E-176BE60B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5435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Record 12 consented clips across 4 fault 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Verify the camera workflow and operator burden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Run a bounded AWS safety-video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7212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12C"/>
                </a:solidFill>
                <a:latin typeface="Arial"/>
                <a:ea typeface="Arial"/>
                <a:cs typeface="Arial"/>
              </a:rPr>
              <a:t>Complete presenter video and submission receipt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F9323-06D8-4B71-9C03-B57E63F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352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35200"/>
                </a:solidFill>
                <a:latin typeface="Arial"/>
                <a:ea typeface="Arial"/>
                <a:cs typeface="Arial"/>
              </a:rPr>
              <a:t>Support: safe fixture, camera access and a reviewer for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B2620-3537-4ABB-AE84-11CA6172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606C7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6C78"/>
                </a:solidFill>
                <a:latin typeface="Arial"/>
                <a:ea typeface="Arial"/>
                <a:cs typeface="Arial"/>
              </a:rPr>
              <a:t>PPT cutoff: 25 Oct, 23:59 IST. Review material only. Real procedural validation and organizer submission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183939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2026-10-25T09:51:59.6820000Z</dcterms:created>
  <dcterms:modified xsi:type="dcterms:W3CDTF">2026-10-25T09:51:59.6820000Z</dcterms:modified>
</coreProperties>
</file>