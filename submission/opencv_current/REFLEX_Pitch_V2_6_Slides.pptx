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315d02314b4074" /><Relationship Type="http://schemas.openxmlformats.org/officeDocument/2006/relationships/extended-properties" Target="/docProps/app.xml" Id="R8b9fac101bc3479d" /><Relationship Type="http://schemas.openxmlformats.org/officeDocument/2006/relationships/officeDocument" Target="/ppt/presentation.xml" Id="R8a48ceb9fd7442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627779b118433e"/>
  </p:sldMasterIdLst>
  <p:notesMasterIdLst>
    <p:notesMasterId xmlns:r="http://schemas.openxmlformats.org/officeDocument/2006/relationships" r:id="R0bd9b8c376184345"/>
  </p:notesMasterIdLst>
  <p:sldIdLst>
    <p:sldId xmlns:r="http://schemas.openxmlformats.org/officeDocument/2006/relationships" id="256" r:id="R17e7563db40346fe"/>
    <p:sldId xmlns:r="http://schemas.openxmlformats.org/officeDocument/2006/relationships" id="257" r:id="R67b7047d1f184d3d"/>
    <p:sldId xmlns:r="http://schemas.openxmlformats.org/officeDocument/2006/relationships" id="258" r:id="Rcd3a0363907b4008"/>
    <p:sldId xmlns:r="http://schemas.openxmlformats.org/officeDocument/2006/relationships" id="259" r:id="R433f9eca1ed84543"/>
    <p:sldId xmlns:r="http://schemas.openxmlformats.org/officeDocument/2006/relationships" id="260" r:id="R6e4223b28e5147cb"/>
    <p:sldId xmlns:r="http://schemas.openxmlformats.org/officeDocument/2006/relationships" id="261" r:id="R84bdfb459eb74a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225317e5d348b0" /><Relationship Type="http://schemas.openxmlformats.org/officeDocument/2006/relationships/slideMaster" Target="/ppt/slideMasters/slideMaster1.xml" Id="R96627779b118433e" /><Relationship Type="http://schemas.openxmlformats.org/officeDocument/2006/relationships/notesMaster" Target="/ppt/notesMasters/notesMaster1.xml" Id="R0bd9b8c376184345" /><Relationship Type="http://schemas.openxmlformats.org/officeDocument/2006/relationships/presProps" Target="/ppt/presProps.xml" Id="Re8228206186f4ac2" /><Relationship Type="http://schemas.openxmlformats.org/officeDocument/2006/relationships/tableStyles" Target="/ppt/tableStyles.xml" Id="R9ad8c346a6e84153" /><Relationship Type="http://schemas.openxmlformats.org/officeDocument/2006/relationships/slide" Target="/ppt/slides/slide1.xml" Id="R17e7563db40346fe" /><Relationship Type="http://schemas.openxmlformats.org/officeDocument/2006/relationships/slide" Target="/ppt/slides/slide2.xml" Id="R67b7047d1f184d3d" /><Relationship Type="http://schemas.openxmlformats.org/officeDocument/2006/relationships/slide" Target="/ppt/slides/slide3.xml" Id="Rcd3a0363907b4008" /><Relationship Type="http://schemas.openxmlformats.org/officeDocument/2006/relationships/slide" Target="/ppt/slides/slide4.xml" Id="R433f9eca1ed84543" /><Relationship Type="http://schemas.openxmlformats.org/officeDocument/2006/relationships/slide" Target="/ppt/slides/slide5.xml" Id="R6e4223b28e5147cb" /><Relationship Type="http://schemas.openxmlformats.org/officeDocument/2006/relationships/slide" Target="/ppt/slides/slide6.xml" Id="R84bdfb459eb74a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405375fddd48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47a0247a1b4f37" /><Relationship Type="http://schemas.openxmlformats.org/officeDocument/2006/relationships/notesMaster" Target="/ppt/notesMasters/notesMaster1.xml" Id="R32e61596e2cc4f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817e1f62904e0d" /><Relationship Type="http://schemas.openxmlformats.org/officeDocument/2006/relationships/notesMaster" Target="/ppt/notesMasters/notesMaster1.xml" Id="R8f2ab91f51ed43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f2619ff92049fd" /><Relationship Type="http://schemas.openxmlformats.org/officeDocument/2006/relationships/notesMaster" Target="/ppt/notesMasters/notesMaster1.xml" Id="R6774f05b89c44b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73b6d2e74c48e4" /><Relationship Type="http://schemas.openxmlformats.org/officeDocument/2006/relationships/notesMaster" Target="/ppt/notesMasters/notesMaster1.xml" Id="R935f300b309945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5536134dcf4d3f" /><Relationship Type="http://schemas.openxmlformats.org/officeDocument/2006/relationships/notesMaster" Target="/ppt/notesMasters/notesMaster1.xml" Id="Rf8d8a423800d44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47da8fbd3f46df" /><Relationship Type="http://schemas.openxmlformats.org/officeDocument/2006/relationships/notesMaster" Target="/ppt/notesMasters/notesMaster1.xml" Id="R26b93ad7ee8041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REFLEX v2 results, 24–25 October 2026. Source ledger: sources/evidence.json. Source CSVs retain full precision. VisA: Amazon Science / Zou et al., ECCV2022, CC BY4.0, https://github.com/amazon-science/spot-diff. Historical AU-PRO is superseded by independently checked v2 scoring. Publisher byte parity remains blocked. No factory validation or method superiority follows.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90c4d7571c40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270688713d44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6ffa0101f945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295cc391f4c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bfac343db54e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6fd2cab0d14d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B348AA-9B3C-486C-B09C-3DC2BA1D29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0B30D2B-B815-4B1A-AB6A-24EC7A8FFF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59E880-1FA8-4E7E-943E-ABDD7D6B87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2C6681-F79D-4EC6-8EC1-6FEB02A756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5507AC-576D-4B31-88BC-43F2D70FAF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DCFF22-991C-4CDD-B8A5-6AFC30CB9E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73FE3C-9238-4C91-B7DD-184ECD4EBB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A38CFE-58D5-4721-9DA9-5CCC9EBB28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122C08-A4F6-4E9A-8342-920C6E9B6C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619DDA-6A16-4FFB-B177-A8AA53DCDD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ca55636a1e491e" /><Relationship Type="http://schemas.openxmlformats.org/officeDocument/2006/relationships/slideLayout" Target="/ppt/slideLayouts/slideLayout1.xml" Id="R74d2a60e7f714dd3" /><Relationship Type="http://schemas.openxmlformats.org/officeDocument/2006/relationships/slideLayout" Target="/ppt/slideLayouts/slideLayout2.xml" Id="Rdbe5a3e0ce864bfd" /><Relationship Type="http://schemas.openxmlformats.org/officeDocument/2006/relationships/slideLayout" Target="/ppt/slideLayouts/slideLayout3.xml" Id="Rb8a29fa5d49c4a4f" /><Relationship Type="http://schemas.openxmlformats.org/officeDocument/2006/relationships/slideLayout" Target="/ppt/slideLayouts/slideLayout4.xml" Id="R5452a17ef2064241" /><Relationship Type="http://schemas.openxmlformats.org/officeDocument/2006/relationships/slideLayout" Target="/ppt/slideLayouts/slideLayout5.xml" Id="R40bda8410b0a418d" /><Relationship Type="http://schemas.openxmlformats.org/officeDocument/2006/relationships/slideLayout" Target="/ppt/slideLayouts/slideLayout6.xml" Id="R343352fa425949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d2a60e7f714dd3"/>
    <p:sldLayoutId xmlns:r="http://schemas.openxmlformats.org/officeDocument/2006/relationships" id="2147483650" r:id="Rdbe5a3e0ce864bfd"/>
    <p:sldLayoutId xmlns:r="http://schemas.openxmlformats.org/officeDocument/2006/relationships" id="2147483651" r:id="Rb8a29fa5d49c4a4f"/>
    <p:sldLayoutId xmlns:r="http://schemas.openxmlformats.org/officeDocument/2006/relationships" id="2147483652" r:id="R5452a17ef2064241"/>
    <p:sldLayoutId xmlns:r="http://schemas.openxmlformats.org/officeDocument/2006/relationships" id="2147483653" r:id="R40bda8410b0a418d"/>
    <p:sldLayoutId xmlns:r="http://schemas.openxmlformats.org/officeDocument/2006/relationships" id="2147483654" r:id="R343352fa425949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4556917a4c41ba" /><Relationship Type="http://schemas.openxmlformats.org/officeDocument/2006/relationships/notesSlide" Target="/ppt/notesSlides/notesSlide1.xml" Id="R3cf49ea0f3274c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35f4b386564732" /><Relationship Type="http://schemas.openxmlformats.org/officeDocument/2006/relationships/notesSlide" Target="/ppt/notesSlides/notesSlide2.xml" Id="R8e1a1c2d876c47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1f28d139c94d0f" /><Relationship Type="http://schemas.openxmlformats.org/officeDocument/2006/relationships/notesSlide" Target="/ppt/notesSlides/notesSlide3.xml" Id="Ra7c5bc45a9724f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b1d9dac65b4436" /><Relationship Type="http://schemas.openxmlformats.org/officeDocument/2006/relationships/image" Target="/ppt/media/image.jpeg" Id="Rc1a576bf9bc048d6" /><Relationship Type="http://schemas.openxmlformats.org/officeDocument/2006/relationships/hyperlink" Target="https://re-c0a0c131729f4898bb80d160feb0ccc7.ecs.ap-southeast-2.on.aws/" TargetMode="External" Id="Rf1fbaac299f2431d" /><Relationship Type="http://schemas.openxmlformats.org/officeDocument/2006/relationships/notesSlide" Target="/ppt/notesSlides/notesSlide4.xml" Id="Rfaeb64c1d37346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2b929f9baa4c8e" /><Relationship Type="http://schemas.openxmlformats.org/officeDocument/2006/relationships/notesSlide" Target="/ppt/notesSlides/notesSlide5.xml" Id="R3bf45c9a2dda42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72711f141b453f" /><Relationship Type="http://schemas.openxmlformats.org/officeDocument/2006/relationships/notesSlide" Target="/ppt/notesSlides/notesSlide6.xml" Id="R92e1ca0be13842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5C3EA-698B-4B39-8EE0-DF59DE34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REFLEX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0D7F3-A1C3-4BBC-BCFA-9E4B87EE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FDBD9-ECE9-42D3-B286-2D7E5C27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3A310-5993-403F-8BD3-0FEF7665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B435E-9AA1-451F-AD4F-838FBBDE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0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0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0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0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0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0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0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0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0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0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Industrial visual inspection with inspectable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1055F-FF76-49E3-B216-13F7DD06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4C79"/>
                </a:solidFill>
                <a:latin typeface="Arial"/>
                <a:ea typeface="Arial"/>
                <a:cs typeface="Arial"/>
              </a:rPr>
              <a:t>Team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CCA2A-3CB1-44E9-B00A-8A369A14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4C79"/>
                </a:solidFill>
                <a:latin typeface="Arial"/>
                <a:ea typeface="Arial"/>
                <a:cs typeface="Arial"/>
              </a:rPr>
              <a:t>Team members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34AA9-302D-4967-AD52-30C88AD5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4C79"/>
                </a:solidFill>
                <a:latin typeface="Arial"/>
                <a:ea typeface="Arial"/>
                <a:cs typeface="Arial"/>
              </a:rPr>
              <a:t>Institution / affiliation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4C670-94DD-4A7E-8A86-96906A45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4C79"/>
                </a:solidFill>
                <a:latin typeface="Arial"/>
                <a:ea typeface="Arial"/>
                <a:cs typeface="Arial"/>
              </a:rPr>
              <a:t>Contact / submission details</a:t>
            </a:r>
          </a:p>
        </p:txBody>
      </p:sp>
    </p:spTree>
    <p:extLst>
      <p:ext uri="{BB962C8B-B14F-4D97-AF65-F5344CB8AC3E}">
        <p14:creationId xmlns:p14="http://schemas.microsoft.com/office/powerpoint/2010/main" val="781947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15FE8-83F5-4C0B-93D2-AFB57EF9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AB49E-9445-487D-8068-FC8F81B0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93B5C-2D2E-4396-9539-78E8E906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3E8CF-7455-43CF-A6DF-CA001654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3394A-4DBC-422C-A229-EC7EEFF0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85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85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85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85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85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85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85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85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85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Subtle defects can receive an automatic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23683-C580-4C94-B3E2-84DDC319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7212C"/>
                </a:solidFill>
                <a:latin typeface="Arial"/>
                <a:ea typeface="Arial"/>
                <a:cs typeface="Arial"/>
              </a:rPr>
              <a:t>Quality teams need the original photograph, localized evidence and an explicit review decision. A single anomaly threshold does not certify a part.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7E356-1516-4C7F-95A2-DAA2096A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11277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B83B35"/>
                </a:solidFill>
                <a:latin typeface="Arial"/>
                <a:ea typeface="Arial"/>
                <a:cs typeface="Arial"/>
              </a:defRPr>
            </a:defPPr>
            <a:lvl1pPr>
              <a:defRPr sz="2250">
                <a:solidFill>
                  <a:srgbClr val="B83B35"/>
                </a:solidFill>
                <a:latin typeface="Arial"/>
                <a:ea typeface="Arial"/>
                <a:cs typeface="Arial"/>
              </a:defRPr>
            </a:lvl1pPr>
            <a:lvl2pPr>
              <a:defRPr sz="2250">
                <a:solidFill>
                  <a:srgbClr val="B83B35"/>
                </a:solidFill>
                <a:latin typeface="Arial"/>
                <a:ea typeface="Arial"/>
                <a:cs typeface="Arial"/>
              </a:defRPr>
            </a:lvl2pPr>
            <a:lvl3pPr>
              <a:defRPr sz="2250">
                <a:solidFill>
                  <a:srgbClr val="B83B35"/>
                </a:solidFill>
                <a:latin typeface="Arial"/>
                <a:ea typeface="Arial"/>
                <a:cs typeface="Arial"/>
              </a:defRPr>
            </a:lvl3pPr>
            <a:lvl4pPr>
              <a:defRPr sz="2250">
                <a:solidFill>
                  <a:srgbClr val="B83B35"/>
                </a:solidFill>
                <a:latin typeface="Arial"/>
                <a:ea typeface="Arial"/>
                <a:cs typeface="Arial"/>
              </a:defRPr>
            </a:lvl4pPr>
            <a:lvl5pPr>
              <a:defRPr sz="2250">
                <a:solidFill>
                  <a:srgbClr val="B83B35"/>
                </a:solidFill>
                <a:latin typeface="Arial"/>
                <a:ea typeface="Arial"/>
                <a:cs typeface="Arial"/>
              </a:defRPr>
            </a:lvl5pPr>
            <a:lvl6pPr>
              <a:defRPr sz="2250">
                <a:solidFill>
                  <a:srgbClr val="B83B35"/>
                </a:solidFill>
                <a:latin typeface="Arial"/>
                <a:ea typeface="Arial"/>
                <a:cs typeface="Arial"/>
              </a:defRPr>
            </a:lvl6pPr>
            <a:lvl7pPr>
              <a:defRPr sz="2250">
                <a:solidFill>
                  <a:srgbClr val="B83B35"/>
                </a:solidFill>
                <a:latin typeface="Arial"/>
                <a:ea typeface="Arial"/>
                <a:cs typeface="Arial"/>
              </a:defRPr>
            </a:lvl7pPr>
            <a:lvl8pPr>
              <a:defRPr sz="2250">
                <a:solidFill>
                  <a:srgbClr val="B83B35"/>
                </a:solidFill>
                <a:latin typeface="Arial"/>
                <a:ea typeface="Arial"/>
                <a:cs typeface="Arial"/>
              </a:defRPr>
            </a:lvl8pPr>
            <a:lvl9pPr>
              <a:defRPr sz="2250">
                <a:solidFill>
                  <a:srgbClr val="B83B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>
                <a:solidFill>
                  <a:srgbClr val="B83B35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B83B35"/>
                </a:solidFill>
                <a:latin typeface="Arial"/>
                <a:ea typeface="Arial"/>
                <a:cs typeface="Arial"/>
              </a:rPr>
              <a:t>Our earlier real-image detector missed 88/200 defects on reused VisA candle/cashew cases. That failure defines the improvement study.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39D63-CC27-4B4E-8DB8-F9AD6A28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Observed prototype limitation. Benchmark prevalence and public photographs do not establish factory error rates.</a:t>
            </a:r>
          </a:p>
        </p:txBody>
      </p:sp>
    </p:spTree>
    <p:extLst>
      <p:ext uri="{BB962C8B-B14F-4D97-AF65-F5344CB8AC3E}">
        <p14:creationId xmlns:p14="http://schemas.microsoft.com/office/powerpoint/2010/main" val="18762538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9AFAC-3C45-42B1-8F37-820E4D04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5238D-189A-491B-B2E9-C50E4DB1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F5550-DF8F-4E8F-BF6E-D110411A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44B2C-8AA1-451E-A145-1D2180EB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47B0E-6165-4070-A7EE-6584FC7C86C7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943850"/>
              </a:tblGrid>
              <a:tr h="733425">
                <a:tc>
                  <a:txBody>
                    <a:bodyPr lIns="66675" tIns="28575" rIns="47625" bIns="190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 behavior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733425"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Capture checks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OpenCV 5 decode, dimensions, exposure and focus checks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Normal patch comparison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Frozen pretrained ResNet50 features and normal-only patch memory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733425"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Selective detail inspection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One evidence-selected crop with a separate normal reference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Evidence and review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Original photograph, heatmap, overlay, trace and unresolved review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CA2D3-F6FA-4FFD-AC5B-7A99D629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Candidate replay: 155/200 defects detected, 41 false clears, 4 unresolved. Candidate remains local because categories and cost regress.</a:t>
            </a:r>
          </a:p>
        </p:txBody>
      </p:sp>
    </p:spTree>
    <p:extLst>
      <p:ext uri="{BB962C8B-B14F-4D97-AF65-F5344CB8AC3E}">
        <p14:creationId xmlns:p14="http://schemas.microsoft.com/office/powerpoint/2010/main" val="763258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D187E-44C1-4B82-B0D0-554111FC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Working Prototype -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C97AC-E5E2-47F1-9700-785907B7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67D7D-A1C3-452A-830B-2802684B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F77DF-57CD-43AF-9626-618A461D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92114-B714-49BF-AADE-98675A8660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576bf9bc048d6"/>
          <a:stretch xmlns:a="http://schemas.openxmlformats.org/drawingml/2006/main"/>
        </p:blipFill>
        <p:spPr>
          <a:xfrm xmlns:a="http://schemas.openxmlformats.org/drawingml/2006/main">
            <a:off x="668011" y="1190625"/>
            <a:ext cx="6817378" cy="4629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47CE7-7D8C-48A0-A182-D4C0DA64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335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DB7"/>
                </a:solidFill>
                <a:latin typeface="Arial"/>
                <a:ea typeface="Arial"/>
                <a:cs typeface="Arial"/>
                <a:hlinkClick xmlns:r="http://schemas.openxmlformats.org/officeDocument/2006/relationships" r:id="Rf1fbaac299f2431d"/>
              </a:rPr>
              <a:t>Open the AWS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5281A-F6F8-4F84-8DF0-7C79678C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524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12C"/>
                </a:solidFill>
                <a:latin typeface="Arial"/>
                <a:ea typeface="Arial"/>
                <a:cs typeface="Arial"/>
              </a:rPr>
              <a:t>Choose candle or cashew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12C"/>
                </a:solidFill>
                <a:latin typeface="Arial"/>
                <a:ea typeface="Arial"/>
                <a:cs typeface="Arial"/>
              </a:rPr>
              <a:t>Analyze a real photograph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12C"/>
                </a:solidFill>
                <a:latin typeface="Arial"/>
                <a:ea typeface="Arial"/>
                <a:cs typeface="Arial"/>
              </a:rPr>
              <a:t>Compare image and heatmap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12C"/>
                </a:solidFill>
                <a:latin typeface="Arial"/>
                <a:ea typeface="Arial"/>
                <a:cs typeface="Arial"/>
              </a:rPr>
              <a:t>Review or export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D6A30-2F18-42DF-899D-D2F6117C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172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172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172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172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172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172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172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172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172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C"/>
                </a:solidFill>
                <a:latin typeface="Arial"/>
                <a:ea typeface="Arial"/>
                <a:cs typeface="Arial"/>
              </a:rPr>
              <a:t>100 measured real-image requests</a:t>
            </a:r>
          </a:p>
          <a:p xmlns:a="http://schemas.openxmlformats.org/drawingml/2006/main">
            <a:pPr>
              <a:defRPr sz="17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12C"/>
                </a:solidFill>
                <a:latin typeface="Arial"/>
                <a:ea typeface="Arial"/>
                <a:cs typeface="Arial"/>
              </a:rPr>
              <a:t>Median roundtrip 3.90 seconds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B55D2-7C5D-4996-A021-D769F83B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Actual AWS v1 screenshot, 24 October 2026. The live demo remains v1. Candidate v2 results are separate offline evidence.</a:t>
            </a:r>
          </a:p>
        </p:txBody>
      </p:sp>
    </p:spTree>
    <p:extLst>
      <p:ext uri="{BB962C8B-B14F-4D97-AF65-F5344CB8AC3E}">
        <p14:creationId xmlns:p14="http://schemas.microsoft.com/office/powerpoint/2010/main" val="17598792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0FC31-355C-4828-9DAC-EC95E62A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Target Users and Business Feasibility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D9B53-3B58-4B9E-A636-0CBD4B11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BDA4A-D121-425F-A169-ABF411EE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926F6-22FB-4FF7-B0C3-0DABB7AE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3B51B-1C92-48B6-9D30-79B335661937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943850"/>
              </a:tblGrid>
              <a:tr h="690563">
                <a:tc>
                  <a:txBody>
                    <a:bodyPr lIns="66675" tIns="28575" rIns="47625" bIns="190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 user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application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690563"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Small inspection teams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Operator-assisted triage for a fixed product category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Quality engineers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Review images, localized evidence and retained decisions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90563"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Pilot partner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Supply new captures and measure misses, alerts and review time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E9B40-4A07-4BD8-A104-0363F2D0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11277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12C"/>
                </a:solidFill>
                <a:latin typeface="Arial"/>
                <a:ea typeface="Arial"/>
                <a:cs typeface="Arial"/>
              </a:rPr>
              <a:t>Proposed model: product-specific setup followed by a site subscription. Customers, pricing, savings and unit economics remain unvalidated.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53159-20ED-4787-8071-471CB43C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The public prototype uses temporary storage. Production access controls, storage and operational validation remain separate work.</a:t>
            </a:r>
          </a:p>
        </p:txBody>
      </p:sp>
    </p:spTree>
    <p:extLst>
      <p:ext uri="{BB962C8B-B14F-4D97-AF65-F5344CB8AC3E}">
        <p14:creationId xmlns:p14="http://schemas.microsoft.com/office/powerpoint/2010/main" val="15366684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76DA4-F878-49E4-B93F-D05592B5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Roadmap and Support Required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99F11-62E6-4BE6-80C9-5A29EC05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EBD16-5EF8-460D-BB61-C38D68C0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  Verified research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32A93-76AB-41DA-87B2-F2C8544E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F112A-CBC0-47CC-837A-F689E2381AF7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467600"/>
              </a:tblGrid>
              <a:tr h="698500">
                <a:tc>
                  <a:txBody>
                    <a:bodyPr lIns="66675" tIns="28575" rIns="47625" bIns="190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 gate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Support needed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698500"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Independent validation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Permissioned normal/defect captures grouped by product lot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Lower false-clear and alert burden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Quality-engineer review of failure slices on new development data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98500"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Capture suitability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Camera fixture and labeled retake / occlusion examples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Pilot feasibility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Review-time measurements, secure storage and operating costs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98500"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Submission completion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28575" rIns="47625" bIns="19050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Team details, presenter, demonstration video and submission receipt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8BBF3-4D4B-4C28-9B0E-AC2FDB34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46526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65260"/>
                </a:solidFill>
                <a:latin typeface="Arial"/>
                <a:ea typeface="Arial"/>
                <a:cs typeface="Arial"/>
              </a:rPr>
              <a:t>Current evidence supports a working demonstrator. Factory readiness remains unproved.</a:t>
            </a:r>
          </a:p>
        </p:txBody>
      </p:sp>
    </p:spTree>
    <p:extLst>
      <p:ext uri="{BB962C8B-B14F-4D97-AF65-F5344CB8AC3E}">
        <p14:creationId xmlns:p14="http://schemas.microsoft.com/office/powerpoint/2010/main" val="2687634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2026-10-25T02:55:14.0550000Z</dcterms:created>
  <dcterms:modified xsi:type="dcterms:W3CDTF">2026-10-25T02:55:14.0550000Z</dcterms:modified>
</coreProperties>
</file>